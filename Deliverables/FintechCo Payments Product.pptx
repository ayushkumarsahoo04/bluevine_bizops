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061" autoAdjust="0"/>
  </p:normalViewPr>
  <p:slideViewPr>
    <p:cSldViewPr snapToGrid="0" snapToObjects="1">
      <p:cViewPr>
        <p:scale>
          <a:sx n="64" d="100"/>
          <a:sy n="64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($)</c:v>
                </c:pt>
              </c:strCache>
            </c:strRef>
          </c:tx>
          <c:spPr>
            <a:solidFill>
              <a:srgbClr val="02809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Facebook</c:v>
                </c:pt>
                <c:pt idx="1">
                  <c:v>LinkedIn</c:v>
                </c:pt>
                <c:pt idx="2">
                  <c:v>Google</c:v>
                </c:pt>
                <c:pt idx="3">
                  <c:v>ReferCo</c:v>
                </c:pt>
                <c:pt idx="4">
                  <c:v>AffilCo</c:v>
                </c:pt>
                <c:pt idx="5">
                  <c:v>FundCo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21.63</c:v>
                </c:pt>
                <c:pt idx="1">
                  <c:v>22.46</c:v>
                </c:pt>
                <c:pt idx="2">
                  <c:v>25.08</c:v>
                </c:pt>
                <c:pt idx="3">
                  <c:v>35.119999999999997</c:v>
                </c:pt>
                <c:pt idx="4">
                  <c:v>59.92</c:v>
                </c:pt>
                <c:pt idx="5">
                  <c:v>170.81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4-425F-9BF0-CFE6F546EC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Zero-Profit Rate (%)</c:v>
                </c:pt>
              </c:strCache>
            </c:strRef>
          </c:tx>
          <c:spPr>
            <a:solidFill>
              <a:srgbClr val="E07A1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FundCo</c:v>
                </c:pt>
                <c:pt idx="1">
                  <c:v>AffilCo</c:v>
                </c:pt>
                <c:pt idx="2">
                  <c:v>LinkedIn</c:v>
                </c:pt>
                <c:pt idx="3">
                  <c:v>ReferCo</c:v>
                </c:pt>
                <c:pt idx="4">
                  <c:v>Google</c:v>
                </c:pt>
                <c:pt idx="5">
                  <c:v>Facebook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16.8</c:v>
                </c:pt>
                <c:pt idx="1">
                  <c:v>28</c:v>
                </c:pt>
                <c:pt idx="2">
                  <c:v>29.8</c:v>
                </c:pt>
                <c:pt idx="3">
                  <c:v>31.3</c:v>
                </c:pt>
                <c:pt idx="4">
                  <c:v>35.299999999999997</c:v>
                </c:pt>
                <c:pt idx="5">
                  <c:v>44.8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A0-4775-9821-CC509CCC6C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profit/day ($)</c:v>
                </c:pt>
              </c:strCache>
            </c:strRef>
          </c:tx>
          <c:spPr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E45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0-9</c:v>
                </c:pt>
                <c:pt idx="1">
                  <c:v>10-19</c:v>
                </c:pt>
                <c:pt idx="2">
                  <c:v>20-29</c:v>
                </c:pt>
                <c:pt idx="3">
                  <c:v>30-39</c:v>
                </c:pt>
                <c:pt idx="4">
                  <c:v>40-49</c:v>
                </c:pt>
                <c:pt idx="5">
                  <c:v>50-59</c:v>
                </c:pt>
                <c:pt idx="6">
                  <c:v>60-69</c:v>
                </c:pt>
                <c:pt idx="7">
                  <c:v>70-79</c:v>
                </c:pt>
                <c:pt idx="8">
                  <c:v>80-89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</c:v>
                </c:pt>
                <c:pt idx="1">
                  <c:v>0.16</c:v>
                </c:pt>
                <c:pt idx="2">
                  <c:v>0.24</c:v>
                </c:pt>
                <c:pt idx="3">
                  <c:v>0.34</c:v>
                </c:pt>
                <c:pt idx="4">
                  <c:v>0.41</c:v>
                </c:pt>
                <c:pt idx="5">
                  <c:v>0.44</c:v>
                </c:pt>
                <c:pt idx="6">
                  <c:v>0.52</c:v>
                </c:pt>
                <c:pt idx="7">
                  <c:v>0.62</c:v>
                </c:pt>
                <c:pt idx="8">
                  <c:v>0.57999999999999996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DB-457E-8C2D-46E586B713D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lang="en-IN" sz="950" b="0" i="0" u="none" strike="noStrike">
                    <a:solidFill>
                      <a:srgbClr val="5B6B73"/>
                    </a:solidFill>
                    <a:latin typeface="Arial"/>
                  </a:rPr>
                  <a:t>Days since acquisition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5E7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profit (%)</c:v>
                </c:pt>
              </c:strCache>
            </c:strRef>
          </c:tx>
          <c:spPr>
            <a:solidFill>
              <a:srgbClr val="02809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B2E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 1%</c:v>
                </c:pt>
                <c:pt idx="1">
                  <c:v>Top 5%</c:v>
                </c:pt>
                <c:pt idx="2">
                  <c:v>Top 10%</c:v>
                </c:pt>
                <c:pt idx="3">
                  <c:v>Top 20%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10.7</c:v>
                </c:pt>
                <c:pt idx="1">
                  <c:v>36.700000000000003</c:v>
                </c:pt>
                <c:pt idx="2">
                  <c:v>54</c:v>
                </c:pt>
                <c:pt idx="3">
                  <c:v>73.900000000000006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4C-4D0C-8EE9-68A73DE373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January cohort</c:v>
                </c:pt>
              </c:strCache>
            </c:strRef>
          </c:tx>
          <c:spPr>
            <a:ln w="38100" cap="flat">
              <a:solidFill>
                <a:srgbClr val="0B2E4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E45"/>
              </a:solidFill>
              <a:ln w="9525" cap="flat">
                <a:solidFill>
                  <a:srgbClr val="0B2E4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Day 10</c:v>
                </c:pt>
                <c:pt idx="1">
                  <c:v>Day 20</c:v>
                </c:pt>
                <c:pt idx="2">
                  <c:v>Day 30</c:v>
                </c:pt>
                <c:pt idx="3">
                  <c:v>Day 45</c:v>
                </c:pt>
                <c:pt idx="4">
                  <c:v>Day 55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</c:v>
                </c:pt>
                <c:pt idx="1">
                  <c:v>2.41</c:v>
                </c:pt>
                <c:pt idx="2">
                  <c:v>5.14</c:v>
                </c:pt>
                <c:pt idx="3">
                  <c:v>10.9</c:v>
                </c:pt>
                <c:pt idx="4">
                  <c:v>15.25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EF-4248-A5B1-A5B8652D3A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February cohort</c:v>
                </c:pt>
              </c:strCache>
            </c:strRef>
          </c:tx>
          <c:spPr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Day 10</c:v>
                </c:pt>
                <c:pt idx="1">
                  <c:v>Day 20</c:v>
                </c:pt>
                <c:pt idx="2">
                  <c:v>Day 30</c:v>
                </c:pt>
                <c:pt idx="3">
                  <c:v>Day 45</c:v>
                </c:pt>
                <c:pt idx="4">
                  <c:v>Day 55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0.52</c:v>
                </c:pt>
                <c:pt idx="1">
                  <c:v>2.27</c:v>
                </c:pt>
                <c:pt idx="2">
                  <c:v>4.68</c:v>
                </c:pt>
                <c:pt idx="3">
                  <c:v>10.15</c:v>
                </c:pt>
                <c:pt idx="4">
                  <c:v>13.73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EF-4248-A5B1-A5B8652D3A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March cohort</c:v>
                </c:pt>
              </c:strCache>
            </c:strRef>
          </c:tx>
          <c:spPr>
            <a:ln w="38100" cap="flat">
              <a:solidFill>
                <a:srgbClr val="E07A1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Day 10</c:v>
                </c:pt>
                <c:pt idx="1">
                  <c:v>Day 20</c:v>
                </c:pt>
                <c:pt idx="2">
                  <c:v>Day 30</c:v>
                </c:pt>
                <c:pt idx="3">
                  <c:v>Day 45</c:v>
                </c:pt>
                <c:pt idx="4">
                  <c:v>Day 55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0.43</c:v>
                </c:pt>
                <c:pt idx="1">
                  <c:v>1.95</c:v>
                </c:pt>
                <c:pt idx="2">
                  <c:v>3.71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EF-4248-A5B1-A5B8652D3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5E7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5E7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Scenario A – Conservative (flat run-rate)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Facebook</c:v>
                </c:pt>
                <c:pt idx="1">
                  <c:v>AffilCo</c:v>
                </c:pt>
                <c:pt idx="2">
                  <c:v>FundCo</c:v>
                </c:pt>
                <c:pt idx="3">
                  <c:v>ReferCo</c:v>
                </c:pt>
                <c:pt idx="4">
                  <c:v>LinkedIn</c:v>
                </c:pt>
                <c:pt idx="5">
                  <c:v>Google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49.2</c:v>
                </c:pt>
                <c:pt idx="1">
                  <c:v>57.9</c:v>
                </c:pt>
                <c:pt idx="2">
                  <c:v>61.6</c:v>
                </c:pt>
                <c:pt idx="3">
                  <c:v>91.2</c:v>
                </c:pt>
                <c:pt idx="4">
                  <c:v>97.7</c:v>
                </c:pt>
                <c:pt idx="5">
                  <c:v>127.4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2A-4BCC-B2B5-5BEFB41666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Scenario B – Optimistic (mature run-rate)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Facebook</c:v>
                </c:pt>
                <c:pt idx="1">
                  <c:v>AffilCo</c:v>
                </c:pt>
                <c:pt idx="2">
                  <c:v>FundCo</c:v>
                </c:pt>
                <c:pt idx="3">
                  <c:v>ReferCo</c:v>
                </c:pt>
                <c:pt idx="4">
                  <c:v>LinkedIn</c:v>
                </c:pt>
                <c:pt idx="5">
                  <c:v>Google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88.8</c:v>
                </c:pt>
                <c:pt idx="1">
                  <c:v>127.5</c:v>
                </c:pt>
                <c:pt idx="2">
                  <c:v>134.80000000000001</c:v>
                </c:pt>
                <c:pt idx="3">
                  <c:v>94.7</c:v>
                </c:pt>
                <c:pt idx="4">
                  <c:v>81.400000000000006</c:v>
                </c:pt>
                <c:pt idx="5">
                  <c:v>155.30000000000001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2A-4BCC-B2B5-5BEFB41666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5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0"/>
          <c:min val="0"/>
        </c:scaling>
        <c:delete val="0"/>
        <c:axPos val="l"/>
        <c:majorGridlines>
          <c:spPr>
            <a:ln w="9525" cap="flat">
              <a:solidFill>
                <a:srgbClr val="DDE5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018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Frame the deck as a Business Operations assessment of FintechCo's Payments product: whether the 6-month CAC payback target is on track, based on the first three months of live data. Introduce yourself and the purpose of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business problem: FintechCo needs to know if new customers pay back their acquisition cost within 180 days, but the product has only been live for 3 months. Emphasize that this creates a genuine data constraint, not a methodology choice. State the assignment objective clearly: quantify CAC, project payback under two methods, and flag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credibility in the data before showing any results: the dataset passed every quality check performed (no nulls, no duplicates, no negative profit, continuous coverage). Then walk through the 5 assumptions </a:t>
            </a:r>
            <a:r>
              <a:rPr lang="en-US"/>
              <a:t>quickly : </a:t>
            </a:r>
            <a:r>
              <a:rPr lang="en-US" dirty="0"/>
              <a:t>these are the judgment calls that make the analysis possible given the data's gaps, and they should be visible to leadership,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leadership will remember. Lead with the headline: unverified, not achieved or </a:t>
            </a:r>
            <a:r>
              <a:rPr lang="en-US"/>
              <a:t>missed : </a:t>
            </a:r>
            <a:r>
              <a:rPr lang="en-US" dirty="0"/>
              <a:t>no customer has hit day 180 yet. Walk through the KPI cards, then the 5 findings at a measured pace. Close on the 3 recommended actions in the takeaway card; these get expanded in the recommendations 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the CAC chart first (sorted low to high) then the zero-profit chart. The key insight: FundCo is expensive but converts well; Facebook is cheap but converts poorly. This sets up the "spend allocation" conversation for the recommendations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ramp curve first: daily profit per active client grows steadily as customers mature, which is why a flat average understates long-term </a:t>
            </a:r>
            <a:r>
              <a:rPr lang="en-US"/>
              <a:t>value : </a:t>
            </a:r>
            <a:r>
              <a:rPr lang="en-US" dirty="0"/>
              <a:t>this justifies using two scenarios later. Then pivot to concentration: the top 10% of clients drive over half of all profit, which is both an opportunity (protect these clients) and a risk (dependency).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ordered decline from January to March at matched tenure. Caveat clearly that March has a small sample (n=39 at day 30), so this is an early signal to monitor, not a confirmed </a:t>
            </a:r>
            <a:r>
              <a:rPr lang="en-US"/>
              <a:t>trend : </a:t>
            </a:r>
            <a:r>
              <a:rPr lang="en-US" dirty="0"/>
              <a:t>avoid overstating it to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analytical output. Explain both scenarios before reading the bars: Scenario A is a flat lifetime average (conservative), Scenario B assumes all future clients mature like January's best clients (optimistic). Point out that only Google clears 100% under both; Facebook is the clear laggard under the conservative case. Stress that the true outcome likely sits between the two </a:t>
            </a:r>
            <a:r>
              <a:rPr lang="en-US"/>
              <a:t>bars : </a:t>
            </a:r>
            <a:r>
              <a:rPr lang="en-US" dirty="0"/>
              <a:t>the gap itself is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column by column, High to Low. The 3 high-severity risks all point to the same root cause: we are extrapolating past the observed data. Medium risks are about concentration and data gaps. The low-medium risk is really a byproduct of rapid growth and will resolve naturally as cohorts 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horizons build on each other: immediate actions generate the evidence (dashboard, zero-profit segmentation, FundCo validation), medium-term actions extend the data window and test channel reallocation, and long-term actions turn this one-time study into an ongoing operating process. Priority badges show what leadership should fund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directly answering the assignment objective: payback is unconfirmed, not proven or disproven. Reiterate the 49–155% range and why Google/Facebook anchor the two ends. End on the three next steps as the concrete ask of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only : use if leadership questions a specific number's methodology. Each assumption exists because the raw data didn't specify an answer; none of them change the direction of the findings, only the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5120640"/>
            <a:ext cx="3657600" cy="365760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19659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6-Month CAC Payback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Risk Analysis &amp; Recommendations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</a:t>
            </a:r>
            <a:r>
              <a:rPr lang="en-US" sz="1400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Payments Product Customer Acquisition &amp; Profitability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Sahoo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Can this product recover its acquisition cost within six months?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launched payments product needs an early read on customer-acquisition economics while only three months of data exist.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84778" cy="4160520"/>
          </a:xfrm>
          <a:prstGeom prst="roundRect">
            <a:avLst>
              <a:gd name="adj" fmla="val 2099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 dirty="0">
              <a:highlight>
                <a:srgbClr val="0080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235805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2608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337560"/>
            <a:ext cx="297271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launched its Payments product </a:t>
            </a:r>
            <a:b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ago, across six acquisition </a:t>
            </a:r>
            <a:b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sub-channels.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set a target: recover full </a:t>
            </a:r>
            <a:b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(CAC) within</a:t>
            </a:r>
            <a:b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 per customer.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has yet reached the 180-day mark the question cannot be answered directly from observed data alone.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3458" y="1965960"/>
            <a:ext cx="3484778" cy="4160520"/>
          </a:xfrm>
          <a:prstGeom prst="roundRect">
            <a:avLst>
              <a:gd name="adj" fmla="val 2099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09490" y="222199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553" y="235805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9490" y="292608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Assignment Objective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9490" y="3337560"/>
            <a:ext cx="297271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CAC by channel and sub-channel using Q1 spend and client-level profit data.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6-month CAC payback using two transparent extrapolation methods.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structural risks to payback and recommend concrete next steps for leadership.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8277" y="1965960"/>
            <a:ext cx="3484778" cy="4160520"/>
          </a:xfrm>
          <a:prstGeom prst="roundRect">
            <a:avLst>
              <a:gd name="adj" fmla="val 2099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414309" y="222199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372" y="2358055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4309" y="292608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Business Context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4309" y="3337560"/>
            <a:ext cx="297271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2,195 clients acquired across </a:t>
            </a:r>
            <a:b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(Facebook, Google, LinkedIn) and Partner (AffilCo, FundCo, ReferCo) channels.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$133,414 in total Q1 marketing spend is at stake for the payback decision.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informs whether marketing spend should scale, hold, or be reallocated by channel.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A clean, well-documented dataset but only 90 days deep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data-quality check passed; five explicit assumptions bridge the gaps the raw data leaves open.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84,313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28529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client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304288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56432" y="23957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2,195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56432" y="28529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clients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351129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396849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Sub-channels, 2 parent channels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3419856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56432" y="351129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$133,414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56432" y="396849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Q1 acquisition spend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6725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ALL CHECKS PASSED</a:t>
            </a:r>
            <a:endParaRPr lang="en-US" sz="1200" dirty="0"/>
          </a:p>
        </p:txBody>
      </p:sp>
      <p:pic>
        <p:nvPicPr>
          <p:cNvPr id="19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0056"/>
            <a:ext cx="146304" cy="14630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8096" y="495604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missing/null values in any column</a:t>
            </a:r>
            <a:endParaRPr lang="en-US" sz="1000" dirty="0"/>
          </a:p>
        </p:txBody>
      </p:sp>
      <p:pic>
        <p:nvPicPr>
          <p:cNvPr id="21" name="Image 1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5020056"/>
            <a:ext cx="146304" cy="1463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65576" y="495604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client-date records</a:t>
            </a:r>
            <a:endParaRPr lang="en-US" sz="1000" dirty="0"/>
          </a:p>
        </p:txBody>
      </p:sp>
      <p:pic>
        <p:nvPicPr>
          <p:cNvPr id="23" name="Image 2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30952"/>
            <a:ext cx="146304" cy="1463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68096" y="52669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gross profit (min = $0.00)</a:t>
            </a:r>
            <a:endParaRPr lang="en-US" sz="1000" dirty="0"/>
          </a:p>
        </p:txBody>
      </p:sp>
      <p:pic>
        <p:nvPicPr>
          <p:cNvPr id="25" name="Image 3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5330952"/>
            <a:ext cx="146304" cy="1463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65576" y="52669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daily coverage per client</a:t>
            </a:r>
            <a:endParaRPr lang="en-US" sz="1000" dirty="0"/>
          </a:p>
        </p:txBody>
      </p:sp>
      <p:pic>
        <p:nvPicPr>
          <p:cNvPr id="27" name="Image 4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41848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8096" y="55778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channel/sub-channel per client</a:t>
            </a:r>
            <a:endParaRPr lang="en-US" sz="1000" dirty="0"/>
          </a:p>
        </p:txBody>
      </p:sp>
      <p:pic>
        <p:nvPicPr>
          <p:cNvPr id="29" name="Image 5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5641848"/>
            <a:ext cx="146304" cy="1463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465576" y="55778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 values suggesting data errors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080760" y="1920240"/>
            <a:ext cx="5562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080760" y="2304288"/>
            <a:ext cx="5562295" cy="713232"/>
          </a:xfrm>
          <a:prstGeom prst="roundRect">
            <a:avLst>
              <a:gd name="adj" fmla="val 769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245352" y="2368296"/>
            <a:ext cx="5233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cutoff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245352" y="2606040"/>
            <a:ext cx="5233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2020, treated as the as-of date for all tenure calculations.</a:t>
            </a:r>
            <a:endParaRPr lang="en-US" sz="970" dirty="0"/>
          </a:p>
        </p:txBody>
      </p:sp>
      <p:sp>
        <p:nvSpPr>
          <p:cNvPr id="35" name="Shape 27"/>
          <p:cNvSpPr/>
          <p:nvPr/>
        </p:nvSpPr>
        <p:spPr>
          <a:xfrm>
            <a:off x="6080760" y="3127248"/>
            <a:ext cx="5562295" cy="713232"/>
          </a:xfrm>
          <a:prstGeom prst="roundRect">
            <a:avLst>
              <a:gd name="adj" fmla="val 769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6245352" y="3191256"/>
            <a:ext cx="5233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Spend-to-cohort attribution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6245352" y="3429000"/>
            <a:ext cx="5233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months spend by sub-channel is assumed to acquire that same month's new clients.</a:t>
            </a:r>
            <a:endParaRPr lang="en-US" sz="970" dirty="0"/>
          </a:p>
        </p:txBody>
      </p:sp>
      <p:sp>
        <p:nvSpPr>
          <p:cNvPr id="38" name="Shape 30"/>
          <p:cNvSpPr/>
          <p:nvPr/>
        </p:nvSpPr>
        <p:spPr>
          <a:xfrm>
            <a:off x="6080760" y="3950208"/>
            <a:ext cx="5562295" cy="713232"/>
          </a:xfrm>
          <a:prstGeom prst="roundRect">
            <a:avLst>
              <a:gd name="adj" fmla="val 769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/>
          <p:nvPr/>
        </p:nvSpPr>
        <p:spPr>
          <a:xfrm>
            <a:off x="6245352" y="4014216"/>
            <a:ext cx="5233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definition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245352" y="4251960"/>
            <a:ext cx="5233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treated as already net of variable costs; no further COGS adjustment applied.</a:t>
            </a:r>
            <a:endParaRPr lang="en-US" sz="970" dirty="0"/>
          </a:p>
        </p:txBody>
      </p:sp>
      <p:sp>
        <p:nvSpPr>
          <p:cNvPr id="41" name="Shape 33"/>
          <p:cNvSpPr/>
          <p:nvPr/>
        </p:nvSpPr>
        <p:spPr>
          <a:xfrm>
            <a:off x="6080760" y="4773168"/>
            <a:ext cx="5562295" cy="713232"/>
          </a:xfrm>
          <a:prstGeom prst="roundRect">
            <a:avLst>
              <a:gd name="adj" fmla="val 769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4"/>
          <p:cNvSpPr/>
          <p:nvPr/>
        </p:nvSpPr>
        <p:spPr>
          <a:xfrm>
            <a:off x="6245352" y="4837176"/>
            <a:ext cx="5233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6245352" y="5074920"/>
            <a:ext cx="5233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$0 profit day is treated as inactivity, not confirmed churn the data has no status field.</a:t>
            </a:r>
            <a:endParaRPr lang="en-US" sz="970" dirty="0"/>
          </a:p>
        </p:txBody>
      </p:sp>
      <p:sp>
        <p:nvSpPr>
          <p:cNvPr id="44" name="Shape 36"/>
          <p:cNvSpPr/>
          <p:nvPr/>
        </p:nvSpPr>
        <p:spPr>
          <a:xfrm>
            <a:off x="6080760" y="5596128"/>
            <a:ext cx="5562295" cy="713232"/>
          </a:xfrm>
          <a:prstGeom prst="roundRect">
            <a:avLst>
              <a:gd name="adj" fmla="val 769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7"/>
          <p:cNvSpPr/>
          <p:nvPr/>
        </p:nvSpPr>
        <p:spPr>
          <a:xfrm>
            <a:off x="6245352" y="5660136"/>
            <a:ext cx="5233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scope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6245352" y="5897880"/>
            <a:ext cx="52331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reported marketing spend is treated as CAC; no fixed/overhead cost allocation applied.</a:t>
            </a:r>
            <a:endParaRPr lang="en-US" sz="970" dirty="0"/>
          </a:p>
        </p:txBody>
      </p:sp>
      <p:sp>
        <p:nvSpPr>
          <p:cNvPr id="49" name="Text 40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6-month payback is unverified not achieved, not missed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has reached the 180-day mark yet; every recovery figure below is a projection, not an observation.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81580" cy="1170432"/>
          </a:xfrm>
          <a:prstGeom prst="roundRect">
            <a:avLst>
              <a:gd name="adj" fmla="val 625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/home/claude/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292" y="21122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12264"/>
            <a:ext cx="219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$60.78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31520" y="2624328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 / client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6252" y="1965960"/>
            <a:ext cx="2581580" cy="1170432"/>
          </a:xfrm>
          <a:prstGeom prst="roundRect">
            <a:avLst>
              <a:gd name="adj" fmla="val 625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cons/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904" y="21122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9132" y="2112264"/>
            <a:ext cx="2215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$9.53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3569132" y="2624328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gross profit to date (median $3.16)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23864" y="1965960"/>
            <a:ext cx="2581580" cy="1170432"/>
          </a:xfrm>
          <a:prstGeom prst="roundRect">
            <a:avLst>
              <a:gd name="adj" fmla="val 625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515" y="211226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6744" y="2112264"/>
            <a:ext cx="2215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31.6%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6744" y="2624328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with $0 profit to date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061475" y="1965960"/>
            <a:ext cx="2581580" cy="1170432"/>
          </a:xfrm>
          <a:prstGeom prst="roundRect">
            <a:avLst>
              <a:gd name="adj" fmla="val 6250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icons/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127" y="211226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44355" y="2112264"/>
            <a:ext cx="219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DD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700" dirty="0"/>
          </a:p>
        </p:txBody>
      </p:sp>
      <p:sp>
        <p:nvSpPr>
          <p:cNvPr id="20" name="Text 14"/>
          <p:cNvSpPr/>
          <p:nvPr/>
        </p:nvSpPr>
        <p:spPr>
          <a:xfrm>
            <a:off x="9244355" y="2624328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profit earned by top 10% of clients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3776472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ranges 8x across sub-channels ($21.63 Facebook to $170.81 FundCo); FundCo’s premium cost pairs with the lowest zero-profit rate and highest avg. profit ($28.13/client).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profitability ramps sharply with tenure daily profit rises ~15–20x from day 0-9 (~$0.03) to </a:t>
            </a:r>
            <a:b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70-89 (~$0.55-0.60); a flat run-rate materially understates mature clients.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show CAC recovery between 49% (Facebook) and 127% (Google) by day 180; </a:t>
            </a:r>
            <a:b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projections move the range to 81% (LinkedIn) and 155% (Google).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structural constraints cap payback regardless of scenario: 31.6% of clients generate zero profit, and profit is heavily concentrated in a small client segment.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signs of cohort quality drift: January clients outperform February, who outperform March, at matched tenure (small March sample, direction still worth monitoring).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83880" y="3429000"/>
            <a:ext cx="3459175" cy="3063240"/>
          </a:xfrm>
          <a:prstGeom prst="roundRect">
            <a:avLst>
              <a:gd name="adj" fmla="val 2388"/>
            </a:avLst>
          </a:prstGeom>
          <a:solidFill>
            <a:srgbClr val="0B2E45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8439912" y="36301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icons/comp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373989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06840" y="3703320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TAKEAWAY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439912" y="411480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6-month payback as unverified, not achieved or missed.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8439912" y="5029200"/>
            <a:ext cx="294711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cohort payback dashboard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31.6% zero-profit segment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D6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FundCo’s premium CAC against its return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FundCo costs the most to acquire and converts the best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and quality move in opposite directions across sub-channels.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718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DE5E7"/>
            </a:solidFill>
            <a:prstDash val="solid"/>
          </a:ln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29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BY SUB-CHANNEL ($)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999165043"/>
              </p:ext>
            </p:extLst>
          </p:nvPr>
        </p:nvGraphicFramePr>
        <p:xfrm>
          <a:off x="685800" y="2240280"/>
          <a:ext cx="5112868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55868" y="1783080"/>
            <a:ext cx="538718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DE5E7"/>
            </a:solidFill>
            <a:prstDash val="solid"/>
          </a:ln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84468" y="1920240"/>
            <a:ext cx="4929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ZERO-PROFIT RATE BY SUB-CHANNEL (%)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3865085625"/>
              </p:ext>
            </p:extLst>
          </p:nvPr>
        </p:nvGraphicFramePr>
        <p:xfrm>
          <a:off x="6393028" y="2240280"/>
          <a:ext cx="5112868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919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FundCo carries the highest CAC (2.4x the next costliest sub-channel) but the lowest zero-profit rate and highest avg. client profit ($28.13 vs. $9.53 blended) the premium appears </a:t>
            </a:r>
            <a:b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buying quality.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is the mirror image: lowest Direct-channel CAC but the highest zero-profit rate (44.8%) a signal to investigate targeting or onboarding before scaling spend.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channels (Facebook, Google, LinkedIn) are cheaper to acquire but convert less reliably than Partner channels overall.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PROFITABILITY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39" y="56692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ramps steeply with tenure and concentrates in a few clients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run-rate understates mature clients; a small client segment drives most of total profit.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71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E7"/>
            </a:solidFill>
            <a:prstDash val="solid"/>
          </a:ln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29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GROSS PROFIT / ACTIVE CLIENT-DAY, BY TENURE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240280"/>
          <a:ext cx="5112868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55868" y="1783080"/>
            <a:ext cx="53871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E7"/>
            </a:solidFill>
            <a:prstDash val="solid"/>
          </a:ln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84468" y="1920240"/>
            <a:ext cx="4929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GROSS PROFIT BY CLIENT SEGMENT</a:t>
            </a:r>
            <a:endParaRPr lang="en-US" sz="10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393028" y="2240280"/>
          <a:ext cx="5112868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782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profit per active client rises ~15-20x from day 0-9 (~$0.03) to day 70-89 (~$0.55-$0.60) a flat lifetime average significantly understates mature-client value.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avg. profit is $9.53/client (median $3.16) the wide mean-median gap signals a right-skewed, concentrated distribution.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10% of clients generate 54% of all profit, and the top 1% alone generate 10.7% payback economics currently lean on a small group.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PROFITABILITY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44774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signal: newer cohorts are underperforming at matched tenure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number of days since acquisition, January clients out-earn February, who out-earn March.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E7"/>
            </a:solidFill>
            <a:prstDash val="solid"/>
          </a:ln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CUMULATIVE PROFIT AT MATCHED TENURE, BY COHORT ($)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849766923"/>
              </p:ext>
            </p:extLst>
          </p:nvPr>
        </p:nvGraphicFramePr>
        <p:xfrm>
          <a:off x="731520" y="2331720"/>
          <a:ext cx="6583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55595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cohort has limited history (n = 39 by day 30); no March data exists yet past day 30.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818120" y="1783080"/>
            <a:ext cx="3824935" cy="4160520"/>
          </a:xfrm>
          <a:prstGeom prst="roundRect">
            <a:avLst>
              <a:gd name="adj" fmla="val 1913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046720" y="1984248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46720" y="2350008"/>
            <a:ext cx="33677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30, January clients have earned $5.14 on average vs. $4.68 for February and $3.71 for March, a consistent, ordered decline.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persists through day 55, the deepest point where January and February can still be compared.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March’s sample is still small (39 clients at day 30), so the trend is an early signal, not a confirmed pattern.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persists, deteriorating cohort quality would further erode 6-month payback beyond what channel-level projections already show.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CAC PAYBACK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Google clears 100% CAC recovery under both scenarios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extrapolation methods bracket a wide range of outcomes the gap between them is the honest measure of uncertainty.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5E7"/>
            </a:solidFill>
            <a:prstDash val="solid"/>
          </a:ln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% OF CAC RECOVERED BY DAY 180, BY SUB-CHANNEL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221207562"/>
              </p:ext>
            </p:extLst>
          </p:nvPr>
        </p:nvGraphicFramePr>
        <p:xfrm>
          <a:off x="777240" y="2350008"/>
          <a:ext cx="106070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257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1520" y="53492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: CONSERVATIVE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560527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lifetime-average run-rate per sub-channel, held constant to day 180. Underestimates</a:t>
            </a:r>
            <a:br>
              <a:rPr lang="en-US" sz="97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7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ignores the profitability ramp.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6263640" y="5257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46520" y="53492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: OPTIMISTIC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46520" y="560527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Most-mature observed run-rate (days 70-89, January cohort only), held constant to day 180. Overestimates assumes all future clients mature like January’s.</a:t>
            </a:r>
            <a:endParaRPr lang="en-US" sz="970" dirty="0"/>
          </a:p>
        </p:txBody>
      </p:sp>
      <p:sp>
        <p:nvSpPr>
          <p:cNvPr id="16" name="Text 12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structural risks could limit payback under any scenario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combined likelihood and potential impact on the 6-month payback goal.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3112922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14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2057400"/>
            <a:ext cx="269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" y="262432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has reached day 180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2898648"/>
            <a:ext cx="30763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CAC-recovery estimate extrapolates beyond the observed data (max tenure ≈ 90 days).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8096" y="368503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methodology drives the result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8096" y="3959352"/>
            <a:ext cx="30763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vs. optimistic methods estimate recovery between 49% and 155% for the same sub-channels.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8096" y="47457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of clients earn $0 profit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68096" y="5020056"/>
            <a:ext cx="30763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third of acquired customers contribute nothing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CAC recovery to date.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38218" y="187452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539386" y="2057400"/>
            <a:ext cx="3112922" cy="384048"/>
          </a:xfrm>
          <a:prstGeom prst="roundRect">
            <a:avLst>
              <a:gd name="adj" fmla="val 14286"/>
            </a:avLst>
          </a:prstGeom>
          <a:solidFill>
            <a:srgbClr val="C9910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/home/claud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826" y="212140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0010" y="2057400"/>
            <a:ext cx="269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SEVERITY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57674" y="262432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concentration &amp; cohort drift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57674" y="2898648"/>
            <a:ext cx="30763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FundCo is ~54% of total spend; Feb/Mar cohorts trend slightly weaker than January at matched tenure.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57674" y="368503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concentrated in few clients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57674" y="3959352"/>
            <a:ext cx="30763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clients generate 54% of all profit losing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would hurt overall profitability.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57674" y="47457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data at longer tenures &amp; no churn field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57674" y="5020056"/>
            <a:ext cx="30763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80+ clients are almost all January; without churn data, inactive vs. churned can’t be told apart.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127797" y="187452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8328965" y="2057400"/>
            <a:ext cx="3112922" cy="384048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/home/claude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405" y="212140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49589" y="2057400"/>
            <a:ext cx="269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 SEVERITY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347253" y="262432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Immature customer base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347253" y="2898648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acquisitions rose each month, so recent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dominate current blended metrics may understate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profitability as cohorts mature.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347253" y="4032504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CLIENTS ACQUIRED BY MONTH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47253" y="43251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9225077" y="4343400"/>
            <a:ext cx="2116226" cy="173736"/>
          </a:xfrm>
          <a:prstGeom prst="roundRect">
            <a:avLst>
              <a:gd name="adj" fmla="val 21053"/>
            </a:avLst>
          </a:prstGeom>
          <a:solidFill>
            <a:srgbClr val="DC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9225077" y="4343400"/>
            <a:ext cx="1068716" cy="173736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11396167" y="4325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8347253" y="46085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9225077" y="4626864"/>
            <a:ext cx="2116226" cy="173736"/>
          </a:xfrm>
          <a:prstGeom prst="roundRect">
            <a:avLst>
              <a:gd name="adj" fmla="val 21053"/>
            </a:avLst>
          </a:prstGeom>
          <a:solidFill>
            <a:srgbClr val="DC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9225077" y="4626864"/>
            <a:ext cx="1469484" cy="173736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/>
          <p:nvPr/>
        </p:nvSpPr>
        <p:spPr>
          <a:xfrm>
            <a:off x="11396167" y="46085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8347253" y="48920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225077" y="4910328"/>
            <a:ext cx="2116226" cy="173736"/>
          </a:xfrm>
          <a:prstGeom prst="roundRect">
            <a:avLst>
              <a:gd name="adj" fmla="val 21053"/>
            </a:avLst>
          </a:prstGeom>
          <a:solidFill>
            <a:srgbClr val="DC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7"/>
          <p:cNvSpPr/>
          <p:nvPr/>
        </p:nvSpPr>
        <p:spPr>
          <a:xfrm>
            <a:off x="9225077" y="4910328"/>
            <a:ext cx="2116226" cy="173736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11396167" y="48920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8347253" y="5248656"/>
            <a:ext cx="307634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2x growth in new clients, January to March, means the base skews young blended metrics should improve simply as these cohorts age.</a:t>
            </a:r>
            <a:endParaRPr lang="en-US" sz="930" dirty="0"/>
          </a:p>
        </p:txBody>
      </p:sp>
      <p:sp>
        <p:nvSpPr>
          <p:cNvPr id="47" name="Text 41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39" y="566928"/>
            <a:ext cx="114792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horizons: verify the data, fix the gaps, monitor going forward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sequenced so each phase builds the evidence the next one needs.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3112922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14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2057400"/>
            <a:ext cx="269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(Next 30 days)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204362" y="260604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04362" y="26060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8096" y="25877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cohort payback dashboard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8096" y="2898648"/>
            <a:ext cx="30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CAC-recovery tracking; removes repetitive</a:t>
            </a:r>
            <a:b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204362" y="37338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04362" y="37338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68096" y="371551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~694 zero-profit clients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8096" y="4026408"/>
            <a:ext cx="30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never-activated from onboarded-but-inactive </a:t>
            </a:r>
            <a:b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fix.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3204362" y="486156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204362" y="4861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8096" y="484327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FundCo’s premium CAC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" y="5154168"/>
            <a:ext cx="30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its unit economics before increasing spend further.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338218" y="187452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539386" y="2057400"/>
            <a:ext cx="3112922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/home/claude/icons/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826" y="212140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60010" y="2057400"/>
            <a:ext cx="269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(Next 90 days)</a:t>
            </a:r>
            <a:endParaRPr lang="en-US" sz="1030" dirty="0"/>
          </a:p>
        </p:txBody>
      </p:sp>
      <p:sp>
        <p:nvSpPr>
          <p:cNvPr id="25" name="Shape 21"/>
          <p:cNvSpPr/>
          <p:nvPr/>
        </p:nvSpPr>
        <p:spPr>
          <a:xfrm>
            <a:off x="6993941" y="260604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993941" y="26060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557674" y="25877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observation window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57674" y="2898648"/>
            <a:ext cx="3076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payback analysis on actual 150-180 day customer data.</a:t>
            </a:r>
            <a:endParaRPr lang="en-US" sz="920" dirty="0"/>
          </a:p>
        </p:txBody>
      </p:sp>
      <p:sp>
        <p:nvSpPr>
          <p:cNvPr id="29" name="Shape 25"/>
          <p:cNvSpPr/>
          <p:nvPr/>
        </p:nvSpPr>
        <p:spPr>
          <a:xfrm>
            <a:off x="6993941" y="345186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991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6993941" y="34518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4557674" y="343357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budget-shift test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557674" y="3744468"/>
            <a:ext cx="3076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incremental spend from Facebook/AffilCo toward Google/FundCo.</a:t>
            </a:r>
            <a:endParaRPr lang="en-US" sz="920" dirty="0"/>
          </a:p>
        </p:txBody>
      </p:sp>
      <p:sp>
        <p:nvSpPr>
          <p:cNvPr id="33" name="Shape 29"/>
          <p:cNvSpPr/>
          <p:nvPr/>
        </p:nvSpPr>
        <p:spPr>
          <a:xfrm>
            <a:off x="6993941" y="429768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991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6993941" y="42976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557674" y="427939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cohort decline (Jan→Mar)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557674" y="4590288"/>
            <a:ext cx="3076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if it’s targeting, market conditions, or data quality.</a:t>
            </a:r>
            <a:endParaRPr lang="en-US" sz="920" dirty="0"/>
          </a:p>
        </p:txBody>
      </p:sp>
      <p:sp>
        <p:nvSpPr>
          <p:cNvPr id="37" name="Shape 33"/>
          <p:cNvSpPr/>
          <p:nvPr/>
        </p:nvSpPr>
        <p:spPr>
          <a:xfrm>
            <a:off x="6993941" y="51435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991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6993941" y="51435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4557674" y="512521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churn/retention tracking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557674" y="5436108"/>
            <a:ext cx="3076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accurate LTV instead of cumulative profit as a proxy.</a:t>
            </a:r>
            <a:endParaRPr lang="en-US" sz="920" dirty="0"/>
          </a:p>
        </p:txBody>
      </p:sp>
      <p:sp>
        <p:nvSpPr>
          <p:cNvPr id="41" name="Shape 37"/>
          <p:cNvSpPr/>
          <p:nvPr/>
        </p:nvSpPr>
        <p:spPr>
          <a:xfrm>
            <a:off x="8127797" y="187452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F1F5F6"/>
          </a:solidFill>
          <a:ln/>
          <a:effectLst>
            <a:outerShdw blurRad="88900" dist="25400" dir="5400000" algn="bl" rotWithShape="0">
              <a:srgbClr val="9AA5A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8"/>
          <p:cNvSpPr/>
          <p:nvPr/>
        </p:nvSpPr>
        <p:spPr>
          <a:xfrm>
            <a:off x="8328965" y="2057400"/>
            <a:ext cx="3112922" cy="384048"/>
          </a:xfrm>
          <a:prstGeom prst="roundRect">
            <a:avLst>
              <a:gd name="adj" fmla="val 14286"/>
            </a:avLst>
          </a:prstGeom>
          <a:solidFill>
            <a:srgbClr val="0B2E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2" descr="/home/claude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405" y="2121408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749589" y="2057400"/>
            <a:ext cx="269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MONITORING</a:t>
            </a:r>
            <a:endParaRPr lang="en-US" sz="1030" dirty="0"/>
          </a:p>
        </p:txBody>
      </p:sp>
      <p:sp>
        <p:nvSpPr>
          <p:cNvPr id="45" name="Shape 40"/>
          <p:cNvSpPr/>
          <p:nvPr/>
        </p:nvSpPr>
        <p:spPr>
          <a:xfrm>
            <a:off x="10783519" y="260604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10783519" y="26060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8347253" y="25877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payback dashboard by cohort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8347253" y="2898648"/>
            <a:ext cx="30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this analysis into an ongoing management process.</a:t>
            </a:r>
            <a:endParaRPr lang="en-US" sz="920" dirty="0"/>
          </a:p>
        </p:txBody>
      </p:sp>
      <p:sp>
        <p:nvSpPr>
          <p:cNvPr id="49" name="Shape 44"/>
          <p:cNvSpPr/>
          <p:nvPr/>
        </p:nvSpPr>
        <p:spPr>
          <a:xfrm>
            <a:off x="10783519" y="37338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C991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10783519" y="37338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8347253" y="371551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Channel-level spend gates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8347253" y="4026408"/>
            <a:ext cx="30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budget scaling on observed, not projected, </a:t>
            </a:r>
            <a:b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economics.</a:t>
            </a:r>
            <a:endParaRPr lang="en-US" sz="920" dirty="0"/>
          </a:p>
        </p:txBody>
      </p:sp>
      <p:sp>
        <p:nvSpPr>
          <p:cNvPr id="53" name="Shape 48"/>
          <p:cNvSpPr/>
          <p:nvPr/>
        </p:nvSpPr>
        <p:spPr>
          <a:xfrm>
            <a:off x="10783519" y="486156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10783519" y="4861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8347253" y="484327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profit concentration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8347253" y="5154168"/>
            <a:ext cx="30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engagement initiatives for lower-value customers.</a:t>
            </a:r>
            <a:endParaRPr lang="en-US" sz="920" dirty="0"/>
          </a:p>
        </p:txBody>
      </p:sp>
      <p:sp>
        <p:nvSpPr>
          <p:cNvPr id="59" name="Text 53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68880" y="4425696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 recovery within six months cannot yet be confirmed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C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only 3 months since launch; even the January cohort has just 89–90 days of history against the 180-day target. No client has reached the payback horizon.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C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recovery figure in this report is a projection, not an observed outcome two methods were used deliberately to show the range of uncertainty rather than a single, false-certain number.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423818" cy="1051560"/>
          </a:xfrm>
          <a:prstGeom prst="roundRect">
            <a:avLst>
              <a:gd name="adj" fmla="val 6957"/>
            </a:avLst>
          </a:prstGeom>
          <a:solidFill>
            <a:srgbClr val="123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374136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 – 155%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0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projected 180-day CAC recovery across</a:t>
            </a:r>
            <a:br>
              <a:rPr lang="en-US" sz="970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70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sub-channels and methods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383938" y="3246120"/>
            <a:ext cx="3423818" cy="1051560"/>
          </a:xfrm>
          <a:prstGeom prst="roundRect">
            <a:avLst>
              <a:gd name="adj" fmla="val 6957"/>
            </a:avLst>
          </a:prstGeom>
          <a:solidFill>
            <a:srgbClr val="123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66818" y="3374136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66818" y="37947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candidate for full recovery under either scenario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127797" y="3246120"/>
            <a:ext cx="3423818" cy="1051560"/>
          </a:xfrm>
          <a:prstGeom prst="roundRect">
            <a:avLst>
              <a:gd name="adj" fmla="val 6957"/>
            </a:avLst>
          </a:prstGeom>
          <a:solidFill>
            <a:srgbClr val="123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10677" y="3374136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10677" y="37947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performer under the conservative scenario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FundCo’s acquisition cost is markedly higher than other sub-channels and warrants direct verification against its underlying economics before any conclusion is drawn on its payback prospects.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 FORWARD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4864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3" y="5564124"/>
            <a:ext cx="2997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live, cohort-based payback dashboard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368698" y="54864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68698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89322" y="5565296"/>
            <a:ext cx="2997098" cy="24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segment of clients contributing no profit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097317" y="54864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97317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17941" y="5493786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FundCo’s higher acquisition cost against </a:t>
            </a:r>
            <a:b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actual return</a:t>
            </a:r>
            <a:endParaRPr lang="en-US" sz="1030" dirty="0"/>
          </a:p>
        </p:txBody>
      </p:sp>
      <p:sp>
        <p:nvSpPr>
          <p:cNvPr id="28" name="Text 25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projection in this deck should be read against these constraints.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87188" cy="1426464"/>
          </a:xfrm>
          <a:prstGeom prst="roundRect">
            <a:avLst>
              <a:gd name="adj" fmla="val 476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002536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spend-to-customer attribution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49848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in each month/sub-channel is assumed to have acquired that same month’s new clients, since the data provides no customer-level attribution or conversion-lag information. Actual acquisition timing may vary, causing slight differences in channel-level CAC.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55868" y="1874520"/>
            <a:ext cx="5387188" cy="1417320"/>
          </a:xfrm>
          <a:prstGeom prst="roundRect">
            <a:avLst>
              <a:gd name="adj" fmla="val 476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57036" y="2002536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based on available history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57036" y="2331720"/>
            <a:ext cx="49848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January clients have enough history (89-90 days) to anchor a mature run-rate.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180-day projection assumes February and March clients will follow a similar profitability trend as they mature actual performance may differ.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5387188" cy="1426464"/>
          </a:xfrm>
          <a:prstGeom prst="roundRect">
            <a:avLst>
              <a:gd name="adj" fmla="val 476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49808" y="3703320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Zero-profit customers ≠ churn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032504"/>
            <a:ext cx="49848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$0 gross profit are treated as inactive, not churned, since the dataset has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churn, activation, or transaction-failure status. Zero profit reflects a data limitation, not confirmed customer loss.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5868" y="3575304"/>
            <a:ext cx="5387188" cy="1417320"/>
          </a:xfrm>
          <a:prstGeom prst="roundRect">
            <a:avLst>
              <a:gd name="adj" fmla="val 476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57036" y="3703320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definition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57036" y="4032504"/>
            <a:ext cx="49848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is assumed to already be net of variable costs, per the assignment description.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COGS adjustments were made due to the absence of a data dictionary or cost breakdown.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5387188" cy="1014984"/>
          </a:xfrm>
          <a:prstGeom prst="roundRect">
            <a:avLst>
              <a:gd name="adj" fmla="val 476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" y="540410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scope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5733288"/>
            <a:ext cx="49848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reported marketing spend is treated as CAC, with no allocation of fixed or overhead costs, since the spend data does not distinguish between fixed and variable marketing costs.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5868" y="5276088"/>
            <a:ext cx="5387188" cy="1014984"/>
          </a:xfrm>
          <a:prstGeom prst="roundRect">
            <a:avLst>
              <a:gd name="adj" fmla="val 4762"/>
            </a:avLst>
          </a:prstGeom>
          <a:solidFill>
            <a:srgbClr val="F1F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57036" y="540410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cutoff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57036" y="5733288"/>
            <a:ext cx="49848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2020, is treated as the as-of (analysis) date for every tenure calculation, </a:t>
            </a:r>
            <a:b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dataset does not specify an explicit analysis date.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18585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2772</Words>
  <Application>Microsoft Office PowerPoint</Application>
  <PresentationFormat>Widescreen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122CH0050 (AYUSHKUMAR SAHOO)</cp:lastModifiedBy>
  <cp:revision>7</cp:revision>
  <dcterms:created xsi:type="dcterms:W3CDTF">2026-07-23T01:09:33Z</dcterms:created>
  <dcterms:modified xsi:type="dcterms:W3CDTF">2026-07-23T05:27:32Z</dcterms:modified>
</cp:coreProperties>
</file>